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6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3AF1-7FAE-F919-357B-EEF8BDAB0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7A7D4-68FC-7F92-0E31-76BD210B9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D397B-63A3-00B1-CE2B-4985BA629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05744-31D4-6E98-5429-F5A1A8FF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524B4-A9D3-C9FB-07EF-4290E48D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9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EDDD-2402-8A4C-D3A6-19914F86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CF7E0-D214-863B-AB63-80C19311E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3D931-D8E3-5B68-1498-A5A30368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F00AD-DA14-E911-2C94-E655726C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0124E-E3C7-1EA6-7EFC-42F8AE33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63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1F2C3-CAF2-00E7-1D62-2A125C42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1923B-DC3E-85AA-9516-71E1971A4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E6713-50D0-8169-97C9-E92A5900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FAFBE-917E-DBB4-6C99-F70812EC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1528A-7AE3-A863-2D3C-9F84E89D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96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B2A3-5D44-7634-E601-3AD9B3DF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58FF1-C618-201E-7B7F-4F1BC373C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DDC98-920D-C5F6-F0A1-3F224257B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67A63-A047-8E66-4B64-1CF1358C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B590E-5ABA-B779-591C-9E213A708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073A2-AC80-2358-3ADF-F0271D14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859F-4A15-ED5B-38E0-2BFF140F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820D6-F0FF-5404-FD2F-DA26776EC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8B619-0746-2001-71A8-9F0B9C03D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4950D-5376-3C4D-A24A-5A0162498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13649-1E90-08ED-3FB8-9E66D1D2E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3BFC48-5D39-8CFD-8EDC-2445D012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B0276E-0AFD-35DE-11FE-7C6939D2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CA61A-3CCB-1687-67CC-1AD679C2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40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843E-BA5C-EAD0-013D-DF014471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079B0-E6D6-F7E3-1AE4-01B75E7A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8396D-FA52-3D14-AB8C-D3E7985B4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67878-4CDA-BFEC-AE6B-CE82FB2E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60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44BEA5-ED48-9207-1DAC-860D07A5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10B61-84DC-2DC7-C388-09B4E056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3CF01-0281-D6D3-F861-2AC79554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51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F18E-7023-B184-F6CF-57B26BC3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2C858-8580-F5C9-98B4-F5F937F5F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3FBA5-C577-ADA2-BC61-2D3A2C932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E7F62-8BF9-ED5D-1AEC-31A2CEEC8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F3A43-CADD-3B02-8E3C-14F3A47E6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A10EE-C80C-1DB6-62AF-00C2F103F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1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9295-DD7B-360B-52D2-DC024C05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1F883-9E88-C798-7098-CA366FDC7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23CAE-9998-5F66-B932-68D6EBF02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3EF6D-C618-8FF1-C697-21F67C6B7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B2359-F7F5-7E2E-65E9-6B6587FB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392F0-FE10-CCA3-32C9-523E77B2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A53A-A6B0-EF97-BDD3-103DC6F12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99B46-6FE5-BA4D-8AFC-F256078FF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5B328-9253-10C4-DD3E-D7A5ED4C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AF90C-AC71-0653-1B5B-5EF7F74EE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23E31-4A6F-EF81-2F1A-B08D9387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8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14836-9C1D-035E-72CD-133034431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2A349-E48E-034F-350E-96FE85A71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91748-D2C0-D10E-960B-23BFBE5D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7DB70-2999-19B1-25EC-9F4D385A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7D91-5657-D28D-7874-C2513D820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6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0FB51-9C25-ADAA-DB59-C2AC1CE4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2BD43-757E-B0E0-FA0B-31197F29B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86DBD-E043-ECC0-9C66-F9E19A1B0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E9D38E-00C8-4760-AF01-47E04F38742A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F1DF4-10F9-A843-13C3-C150CDBCF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F181B-D2F2-A777-CFBE-1F505DA4D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6B9CA-E7C9-4A78-AF84-31D30E18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2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puzzle pieces with a ribbon and a banner&#10;&#10;Description automatically generated">
            <a:extLst>
              <a:ext uri="{FF2B5EF4-FFF2-40B4-BE49-F238E27FC236}">
                <a16:creationId xmlns:a16="http://schemas.microsoft.com/office/drawing/2014/main" id="{9C4975FA-EDD5-106A-6854-AC67E785E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0"/>
            <a:ext cx="11925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08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uzzle frame with many pieces&#10;&#10;Description automatically generated">
            <a:extLst>
              <a:ext uri="{FF2B5EF4-FFF2-40B4-BE49-F238E27FC236}">
                <a16:creationId xmlns:a16="http://schemas.microsoft.com/office/drawing/2014/main" id="{8A8E919D-93A3-391B-0297-278D2C358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B5E1AB-F89D-D0A8-6842-EC4EA229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24" y="374269"/>
            <a:ext cx="10515600" cy="186601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What is Autism?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Autism is a neurodevelopmental disorder that impairs the ability to communicate and interact. It is a complex developmental condition involving persistent challenges with social communication, restricted interests and repetitive behaviors.</a:t>
            </a:r>
          </a:p>
        </p:txBody>
      </p:sp>
    </p:spTree>
    <p:extLst>
      <p:ext uri="{BB962C8B-B14F-4D97-AF65-F5344CB8AC3E}">
        <p14:creationId xmlns:p14="http://schemas.microsoft.com/office/powerpoint/2010/main" val="224668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zzle frame with many pieces&#10;&#10;Description automatically generated">
            <a:extLst>
              <a:ext uri="{FF2B5EF4-FFF2-40B4-BE49-F238E27FC236}">
                <a16:creationId xmlns:a16="http://schemas.microsoft.com/office/drawing/2014/main" id="{E5DE82DB-50C5-CBC0-561A-EEEE3804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AD2C63-A648-AC3B-3437-0A0B5A6B2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06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Autism Awareness Day</a:t>
            </a:r>
          </a:p>
        </p:txBody>
      </p:sp>
      <p:pic>
        <p:nvPicPr>
          <p:cNvPr id="6" name="Content Placeholder 5" descr="A colorful ribbon made of puzzle pieces&#10;&#10;Description automatically generated">
            <a:extLst>
              <a:ext uri="{FF2B5EF4-FFF2-40B4-BE49-F238E27FC236}">
                <a16:creationId xmlns:a16="http://schemas.microsoft.com/office/drawing/2014/main" id="{5596EF3C-0CD2-6E06-4504-9A42D3958B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28" y="1825625"/>
            <a:ext cx="3894740" cy="363334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94ED7-9A2E-C554-B364-E820634D7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57991"/>
            <a:ext cx="5181600" cy="4351338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Autism Awareness Day is celebrated on April 2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every year.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designated by the United nations General Assembly in 2007 to raise awareness and promote acceptance, understanding, and inclusion of individuals with Autism Spectrum Disorder.</a:t>
            </a:r>
          </a:p>
        </p:txBody>
      </p:sp>
    </p:spTree>
    <p:extLst>
      <p:ext uri="{BB962C8B-B14F-4D97-AF65-F5344CB8AC3E}">
        <p14:creationId xmlns:p14="http://schemas.microsoft.com/office/powerpoint/2010/main" val="3350850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uzzle frame with many pieces&#10;&#10;Description automatically generated">
            <a:extLst>
              <a:ext uri="{FF2B5EF4-FFF2-40B4-BE49-F238E27FC236}">
                <a16:creationId xmlns:a16="http://schemas.microsoft.com/office/drawing/2014/main" id="{30D9508A-E323-7655-84F6-BB9668727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2"/>
            <a:ext cx="12191999" cy="685074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0F9716A-0FF8-DE8F-4EAF-927B87B6C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7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Autism Challenges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5E8C931-D9AC-8D7A-B1D5-531F4324E7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1506" y="1837943"/>
            <a:ext cx="3795712" cy="3602737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FE40D5-42A0-3ED5-2808-45B374BDE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49361"/>
            <a:ext cx="5181600" cy="4351338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difficulty is not understanding the meaning of words and sentences, body language, and vocal tones. Some individuals with autism may have limited speech or be unable to speak.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impediments is difficulty interpreting verbal and non-verbal language and understanding how others think and feel.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to change and stimulation is over-responsiveness to sensory stimuli or under-responsiveness. Stimuli such as buzzers, fluorescent lights, loud noises and even food smells.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skills can often be a challenge for an individual with autism such as writing, drawing, and cutting and other motor skills such as running, throwing and kicking.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Repetitive behaviors are movements such as hand-flapping, fidgeting with objects or body rocking, and vocalizations such as grunting or repeating certain phrases.</a:t>
            </a:r>
          </a:p>
        </p:txBody>
      </p:sp>
    </p:spTree>
    <p:extLst>
      <p:ext uri="{BB962C8B-B14F-4D97-AF65-F5344CB8AC3E}">
        <p14:creationId xmlns:p14="http://schemas.microsoft.com/office/powerpoint/2010/main" val="274281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zzle frame with many pieces">
            <a:extLst>
              <a:ext uri="{FF2B5EF4-FFF2-40B4-BE49-F238E27FC236}">
                <a16:creationId xmlns:a16="http://schemas.microsoft.com/office/drawing/2014/main" id="{01438BFC-4E46-8C16-F9E8-5D9446B6A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801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37D694-8DE8-0F8A-1630-E5A5B342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648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Autism Opportunities</a:t>
            </a:r>
          </a:p>
        </p:txBody>
      </p:sp>
      <p:pic>
        <p:nvPicPr>
          <p:cNvPr id="6" name="Content Placeholder 5" descr="A cartoon of a child holding a puzzle&#10;&#10;Description automatically generated">
            <a:extLst>
              <a:ext uri="{FF2B5EF4-FFF2-40B4-BE49-F238E27FC236}">
                <a16:creationId xmlns:a16="http://schemas.microsoft.com/office/drawing/2014/main" id="{0E5128D1-96A8-9EC4-A4D6-85F2D4CADE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604" y="1755586"/>
            <a:ext cx="3351192" cy="363023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E114A-D0D5-4DCC-D097-01A299C72B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Many companies actively seek neurodiverse talent, valuing skills like attention to detail, problem-solving, and unique perspectives. Individuals with autism often have strong attention to detail and can thrive in jobs that require accuracy and precision.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Assistive communication devices and apps can enhance communication, while virtual reality environments can facilitate social skills training in a controlled setting. </a:t>
            </a:r>
            <a:endParaRPr lang="en-US" sz="1800" dirty="0"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Encouraging creative expression through music, art, and writing can provide therapeutic benefits and a platform for self-advocacy.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5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zzle frame with many pieces&#10;&#10;Description automatically generated">
            <a:extLst>
              <a:ext uri="{FF2B5EF4-FFF2-40B4-BE49-F238E27FC236}">
                <a16:creationId xmlns:a16="http://schemas.microsoft.com/office/drawing/2014/main" id="{EFA01795-DDD4-1A96-44C8-AFF91691B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00D6F4-5685-5594-481F-E4A74F46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5150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Concerns</a:t>
            </a:r>
          </a:p>
        </p:txBody>
      </p:sp>
      <p:pic>
        <p:nvPicPr>
          <p:cNvPr id="6" name="Content Placeholder 5" descr="A child's head made of puzzle pieces&#10;&#10;Description automatically generated">
            <a:extLst>
              <a:ext uri="{FF2B5EF4-FFF2-40B4-BE49-F238E27FC236}">
                <a16:creationId xmlns:a16="http://schemas.microsoft.com/office/drawing/2014/main" id="{38BB7CDE-3935-D806-E52B-9E7D0659E1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792" y="1776886"/>
            <a:ext cx="3922880" cy="3681234"/>
          </a:xfr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496EB-798C-4AF2-2B0D-67BBEC104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78544"/>
            <a:ext cx="5181600" cy="4351338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ea typeface="Aptos" panose="020B0004020202020204" pitchFamily="34" charset="0"/>
              </a:rPr>
              <a:t>There are concerns that autistic individuals may not give consent to interventions, or that their bodily autonomy may be violated.</a:t>
            </a:r>
          </a:p>
          <a:p>
            <a:r>
              <a:rPr lang="en-US" sz="1800" dirty="0">
                <a:latin typeface="Times New Roman" panose="02020603050405020304" pitchFamily="18" charset="0"/>
                <a:ea typeface="Aptos" panose="020B0004020202020204" pitchFamily="34" charset="0"/>
              </a:rPr>
              <a:t>The patient’s right to self-determination is frequently violated.</a:t>
            </a:r>
          </a:p>
          <a:p>
            <a:r>
              <a:rPr lang="en-US" sz="1800" dirty="0">
                <a:latin typeface="Times New Roman" panose="02020603050405020304" pitchFamily="18" charset="0"/>
                <a:ea typeface="Aptos" panose="020B0004020202020204" pitchFamily="34" charset="0"/>
              </a:rPr>
              <a:t>Informed consent must be voluntary without coercion, misrepresentation, duress, or pain.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Ther</a:t>
            </a:r>
            <a:r>
              <a:rPr lang="en-US" sz="1800" dirty="0">
                <a:latin typeface="Times New Roman" panose="02020603050405020304" pitchFamily="18" charset="0"/>
                <a:ea typeface="Aptos" panose="020B0004020202020204" pitchFamily="34" charset="0"/>
              </a:rPr>
              <a:t>e are ethical concerns about the risks and benefits of early identification and intervention, and how to communicate early concerns to families.</a:t>
            </a:r>
          </a:p>
          <a:p>
            <a:endParaRPr lang="en-US" sz="18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54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DC70A8-86B9-444C-034C-3899D5B24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8E8B74-9C9D-4BB5-6045-91854921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7176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</a:p>
        </p:txBody>
      </p:sp>
      <p:pic>
        <p:nvPicPr>
          <p:cNvPr id="6" name="Content Placeholder 5" descr="A colorful puzzle ribbon with words&#10;&#10;Description automatically generated">
            <a:extLst>
              <a:ext uri="{FF2B5EF4-FFF2-40B4-BE49-F238E27FC236}">
                <a16:creationId xmlns:a16="http://schemas.microsoft.com/office/drawing/2014/main" id="{D7D2EE33-425B-D526-FE35-4D5D17D9CE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503" y="1825625"/>
            <a:ext cx="4167913" cy="359676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1367C-2BDA-C806-C1E2-D159853919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assumptions about an individual with autism are they have a special skill, they are violent, they can’t feel emotion or have relationships.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assumption about autism is that autism need to be cured. This perspective can marginalize the neurodiversity movement, which advocates for acceptance and appreciation of neurological difference.</a:t>
            </a:r>
          </a:p>
        </p:txBody>
      </p:sp>
    </p:spTree>
    <p:extLst>
      <p:ext uri="{BB962C8B-B14F-4D97-AF65-F5344CB8AC3E}">
        <p14:creationId xmlns:p14="http://schemas.microsoft.com/office/powerpoint/2010/main" val="1567026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text with butterflies and puzzle pieces">
            <a:extLst>
              <a:ext uri="{FF2B5EF4-FFF2-40B4-BE49-F238E27FC236}">
                <a16:creationId xmlns:a16="http://schemas.microsoft.com/office/drawing/2014/main" id="{22A30D33-6CF7-7852-1B4D-61B2D4B78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2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450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              What is Autism?  Autism is a neurodevelopmental disorder that impairs the ability to communicate and interact. It is a complex developmental condition involving persistent challenges with social communication, restricted interests and repetitive behaviors.</vt:lpstr>
      <vt:lpstr>World Autism Awareness Day</vt:lpstr>
      <vt:lpstr>Autism Challenges</vt:lpstr>
      <vt:lpstr>Autism Opportunities</vt:lpstr>
      <vt:lpstr>Ethical Concerns</vt:lpstr>
      <vt:lpstr>Assumptions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Staci Holmes</dc:creator>
  <cp:lastModifiedBy>Staci Holmes</cp:lastModifiedBy>
  <cp:revision>1</cp:revision>
  <dcterms:created xsi:type="dcterms:W3CDTF">2024-10-26T20:58:33Z</dcterms:created>
  <dcterms:modified xsi:type="dcterms:W3CDTF">2024-10-26T23:09:41Z</dcterms:modified>
</cp:coreProperties>
</file>